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685800" cy="685800"/>
          </a:xfrm>
          <a:prstGeom prst="ellipse">
            <a:avLst/>
          </a:prstGeom>
          <a:solidFill>
            <a:srgbClr val="0A0A0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43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for Good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11880" y="274320"/>
            <a:ext cx="0" cy="5943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94760" y="3200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Readiness Simulation Game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795760" cy="38100"/>
          </a:xfrm>
          <a:prstGeom prst="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0" y="1280160"/>
            <a:ext cx="640080" cy="1371600"/>
          </a:xfrm>
          <a:prstGeom prst="rect">
            <a:avLst/>
          </a:prstGeom>
          <a:solidFill>
            <a:srgbClr val="FF8C3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2651760"/>
            <a:ext cx="640080" cy="1645920"/>
          </a:xfrm>
          <a:prstGeom prst="rect">
            <a:avLst/>
          </a:prstGeom>
          <a:solidFill>
            <a:srgbClr val="BB6BD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1440" y="4297680"/>
            <a:ext cx="640080" cy="1828800"/>
          </a:xfrm>
          <a:prstGeom prst="rect">
            <a:avLst/>
          </a:prstGeom>
          <a:solidFill>
            <a:srgbClr val="4DD0E1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263640"/>
            <a:ext cx="640080" cy="640080"/>
          </a:xfrm>
          <a:prstGeom prst="ellipse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3825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8C3A"/>
                </a:solidFill>
                <a:latin typeface="Calibri"/>
              </a:rPr>
              <a:t>What it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Country teams simulate AI readiness.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They can: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  •  describe status across 13 dimensions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  •  consult 6 AI agents for scoring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  •  run "what-if" + use-case analyses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FFFF"/>
                </a:solidFill>
                <a:latin typeface="Calibri"/>
              </a:rPr>
              <a:t>  •  announce decisions that reshape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5486400" cy="777240"/>
          </a:xfrm>
          <a:prstGeom prst="round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ITU AI Readiness Framework 2.0  (Jan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8C3A"/>
                </a:solidFill>
                <a:latin typeface="Calibri"/>
              </a:rPr>
              <a:t>What delegates 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57400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305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standardise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305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Map use case → Y.3172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15768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Analyse use case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74135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47287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47287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Score country across 13 dims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32503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05655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clarify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05655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Ask about any dimension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690871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64023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whatif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64023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Simulate policy change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49239"/>
            <a:ext cx="1828800" cy="502920"/>
          </a:xfrm>
          <a:prstGeom prst="round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422391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Calibri"/>
              </a:rP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422391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Announce a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685800" cy="685800"/>
          </a:xfrm>
          <a:prstGeom prst="ellipse">
            <a:avLst/>
          </a:prstGeom>
          <a:solidFill>
            <a:srgbClr val="0A0A0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43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for Good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11880" y="274320"/>
            <a:ext cx="0" cy="5943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94760" y="3200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795760" cy="38100"/>
          </a:xfrm>
          <a:prstGeom prst="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0" y="1280160"/>
            <a:ext cx="640080" cy="1371600"/>
          </a:xfrm>
          <a:prstGeom prst="rect">
            <a:avLst/>
          </a:prstGeom>
          <a:solidFill>
            <a:srgbClr val="FF8C3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2651760"/>
            <a:ext cx="640080" cy="1645920"/>
          </a:xfrm>
          <a:prstGeom prst="rect">
            <a:avLst/>
          </a:prstGeom>
          <a:solidFill>
            <a:srgbClr val="BB6BD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1440" y="4297680"/>
            <a:ext cx="640080" cy="1828800"/>
          </a:xfrm>
          <a:prstGeom prst="rect">
            <a:avLst/>
          </a:prstGeom>
          <a:solidFill>
            <a:srgbClr val="4DD0E1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263640"/>
            <a:ext cx="640080" cy="640080"/>
          </a:xfrm>
          <a:prstGeom prst="ellipse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3825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63040"/>
            <a:ext cx="2468880" cy="1737360"/>
          </a:xfrm>
          <a:prstGeom prst="roundRect">
            <a:avLst/>
          </a:prstGeom>
          <a:solidFill>
            <a:srgbClr val="1A3A6E"/>
          </a:solidFill>
          <a:ln w="2540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Delegates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4DD0E1"/>
                </a:solidFill>
                <a:latin typeface="Calibri"/>
              </a:rPr>
              <a:t>10 – 50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CLI  or  Colab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331720"/>
            <a:ext cx="1005840" cy="0"/>
          </a:xfrm>
          <a:prstGeom prst="bentConnector3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1463040"/>
            <a:ext cx="4206240" cy="1737360"/>
          </a:xfrm>
          <a:prstGeom prst="roundRect">
            <a:avLst/>
          </a:prstGeom>
          <a:solidFill>
            <a:srgbClr val="153055"/>
          </a:solidFill>
          <a:ln w="25400">
            <a:solidFill>
              <a:srgbClr val="FF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6002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FastAPI + GameEngine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945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AgentRouter picks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517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+ Sessions + WebSocket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2331720"/>
            <a:ext cx="1005840" cy="0"/>
          </a:xfrm>
          <a:prstGeom prst="bentConnector3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320" y="1463040"/>
            <a:ext cx="2286000" cy="1737360"/>
          </a:xfrm>
          <a:prstGeom prst="roundRect">
            <a:avLst/>
          </a:prstGeom>
          <a:solidFill>
            <a:srgbClr val="3A1F5A"/>
          </a:solidFill>
          <a:ln w="25400">
            <a:solidFill>
              <a:srgbClr val="BB6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00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 AI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94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Dataset ·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468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Deployment · Standards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Sandbox · OpenSource · UseCase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0" y="3291840"/>
            <a:ext cx="0" cy="640080"/>
          </a:xfrm>
          <a:prstGeom prst="bentConnector3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4023360"/>
            <a:ext cx="3291840" cy="21031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4DD0E1"/>
                </a:solidFill>
                <a:latin typeface="Calibri"/>
              </a:rPr>
              <a:t>Knowledge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ChromaDB · persistent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120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Calibri"/>
              </a:rPr>
              <a:t>kb_main · kb_framework
kb_usecase · kb_decisions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023360"/>
            <a:ext cx="3291840" cy="21031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5BC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5BC87F"/>
                </a:solidFill>
                <a:latin typeface="Calibri"/>
              </a:rPr>
              <a:t>Knowledge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663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ChromaDB · ephemeral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120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Calibri"/>
              </a:rPr>
              <a:t>One per what-if
Discarded after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023360"/>
            <a:ext cx="3291840" cy="21031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8C3A"/>
                </a:solidFill>
                <a:latin typeface="Calibri"/>
              </a:rPr>
              <a:t>Causal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663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NetworkX DiGraph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120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Calibri"/>
              </a:rPr>
              <a:t>13 nodes · 23 edges
Propagates deltas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355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8C3A"/>
                </a:solidFill>
                <a:latin typeface="Calibri"/>
              </a:rPr>
              <a:t>Local LLM:  Ollama · qwen2.5:14b   +   nomic-embed-text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685800" cy="685800"/>
          </a:xfrm>
          <a:prstGeom prst="ellipse">
            <a:avLst/>
          </a:prstGeom>
          <a:solidFill>
            <a:srgbClr val="0A0A0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843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for Good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11880" y="274320"/>
            <a:ext cx="0" cy="5943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94760" y="3200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Use-Case Flow (ITU-T Y.3172)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795760" cy="38100"/>
          </a:xfrm>
          <a:prstGeom prst="rect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0" y="1280160"/>
            <a:ext cx="640080" cy="1371600"/>
          </a:xfrm>
          <a:prstGeom prst="rect">
            <a:avLst/>
          </a:prstGeom>
          <a:solidFill>
            <a:srgbClr val="FF8C3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0" y="2651760"/>
            <a:ext cx="640080" cy="1645920"/>
          </a:xfrm>
          <a:prstGeom prst="rect">
            <a:avLst/>
          </a:prstGeom>
          <a:solidFill>
            <a:srgbClr val="BB6BD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1440" y="4297680"/>
            <a:ext cx="640080" cy="1828800"/>
          </a:xfrm>
          <a:prstGeom prst="rect">
            <a:avLst/>
          </a:prstGeom>
          <a:solidFill>
            <a:srgbClr val="4DD0E1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263640"/>
            <a:ext cx="640080" cy="640080"/>
          </a:xfrm>
          <a:prstGeom prst="ellipse">
            <a:avLst/>
          </a:prstGeom>
          <a:solidFill>
            <a:srgbClr val="FF8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3825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Every use case is mapped to the Y.3172 ML pipeline, then to readiness dimensions.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DD0E1"/>
                </a:solidFill>
                <a:latin typeface="Calibri"/>
              </a:rPr>
              <a:t>SRC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66543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6543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DD0E1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67328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7328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DD0E1"/>
                </a:solidFill>
                <a:latin typeface="Calibri"/>
              </a:rPr>
              <a:t>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Pre-proc.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BB6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BB6BD9"/>
                </a:solidFill>
                <a:latin typeface="Calibri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68896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6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8C3A"/>
                </a:solidFill>
                <a:latin typeface="Calibri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8C3A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Distrib.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70464" y="2423160"/>
            <a:ext cx="1508760" cy="1188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0464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8C3A"/>
                </a:solidFill>
                <a:latin typeface="Calibri"/>
              </a:rPr>
              <a:t>SINK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70464" y="313639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Sink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74519" y="3017520"/>
            <a:ext cx="192024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3" y="3017520"/>
            <a:ext cx="192025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76088" y="3017520"/>
            <a:ext cx="192024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76872" y="3017520"/>
            <a:ext cx="192024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77656" y="3017520"/>
            <a:ext cx="192024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378440" y="3017520"/>
            <a:ext cx="192024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840480" y="1920240"/>
            <a:ext cx="4572000" cy="411480"/>
          </a:xfrm>
          <a:prstGeom prst="roundRect">
            <a:avLst/>
          </a:prstGeom>
          <a:solidFill>
            <a:srgbClr val="3A1F5A"/>
          </a:solidFill>
          <a:ln w="19050">
            <a:solidFill>
              <a:srgbClr val="BB6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MLFO  —  orchestrator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3749039"/>
            <a:ext cx="11430000" cy="502920"/>
          </a:xfrm>
          <a:prstGeom prst="roundRect">
            <a:avLst/>
          </a:prstGeom>
          <a:solidFill>
            <a:srgbClr val="1A3A1A"/>
          </a:solidFill>
          <a:ln w="19050">
            <a:solidFill>
              <a:srgbClr val="5BC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840479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ML Sandbox  —  parallel validation 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8C3A"/>
                </a:solidFill>
                <a:latin typeface="Calibri"/>
              </a:rPr>
              <a:t>Readiness dimensions impacted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1663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Data layer  (SRC · C · PP)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166360"/>
            <a:ext cx="3840480" cy="411480"/>
          </a:xfrm>
          <a:prstGeom prst="roundRect">
            <a:avLst/>
          </a:prstGeom>
          <a:solidFill>
            <a:srgbClr val="153055"/>
          </a:solidFill>
          <a:ln w="1905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212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4DD0E1"/>
                </a:solidFill>
                <a:latin typeface="Calibri"/>
              </a:rPr>
              <a:t>D1 · D3 · D13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692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Model + Policy  (M · P)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5669280"/>
            <a:ext cx="3840480" cy="411480"/>
          </a:xfrm>
          <a:prstGeom prst="roundRect">
            <a:avLst/>
          </a:prstGeom>
          <a:solidFill>
            <a:srgbClr val="153055"/>
          </a:solidFill>
          <a:ln w="1905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5715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4DD0E1"/>
                </a:solidFill>
                <a:latin typeface="Calibri"/>
              </a:rPr>
              <a:t>D5 · D7 · D10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1722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Delivery  (D · SINK)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6172200"/>
            <a:ext cx="3840480" cy="411480"/>
          </a:xfrm>
          <a:prstGeom prst="roundRect">
            <a:avLst/>
          </a:prstGeom>
          <a:solidFill>
            <a:srgbClr val="153055"/>
          </a:solidFill>
          <a:ln w="19050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6217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4DD0E1"/>
                </a:solidFill>
                <a:latin typeface="Calibri"/>
              </a:rPr>
              <a:t>D5 · D6 · D12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